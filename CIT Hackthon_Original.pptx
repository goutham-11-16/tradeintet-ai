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2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5175" y="924388"/>
            <a:ext cx="10963275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305424" cy="45445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4528" y="3968725"/>
            <a:ext cx="6002655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184" y="4619268"/>
            <a:ext cx="15330016" cy="355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4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    		:	 MARK42</a:t>
            </a:r>
            <a:endParaRPr sz="4000" dirty="0">
              <a:latin typeface="Arial"/>
              <a:cs typeface="Arial"/>
            </a:endParaRPr>
          </a:p>
          <a:p>
            <a:pPr marL="12700" marR="5080">
              <a:spcBef>
                <a:spcPts val="89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4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Leader</a:t>
            </a:r>
            <a:r>
              <a:rPr sz="4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Name: </a:t>
            </a:r>
            <a:r>
              <a:rPr lang="en-US" sz="4000" b="1" spc="-10" dirty="0">
                <a:solidFill>
                  <a:srgbClr val="FFFFFF"/>
                </a:solidFill>
                <a:latin typeface="Arial"/>
                <a:cs typeface="Arial"/>
              </a:rPr>
              <a:t>    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GOUTHAM REDDY ESAMBADI</a:t>
            </a:r>
          </a:p>
          <a:p>
            <a:pPr marL="12700" marR="5080">
              <a:spcBef>
                <a:spcPts val="89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4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Members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 	KANIKSHA S</a:t>
            </a:r>
          </a:p>
          <a:p>
            <a:pPr marL="12700" marR="5080">
              <a:spcBef>
                <a:spcPts val="890"/>
              </a:spcBef>
            </a:pP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						ELISETTY SOWMYA</a:t>
            </a:r>
          </a:p>
          <a:p>
            <a:pPr marL="12700" marR="5080">
              <a:spcBef>
                <a:spcPts val="890"/>
              </a:spcBef>
            </a:pP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						DUTALLURI KARIMULLA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79801" y="1743348"/>
            <a:ext cx="547751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0" b="1" dirty="0">
                <a:latin typeface="Arial"/>
                <a:cs typeface="Arial"/>
              </a:rPr>
              <a:t>Project</a:t>
            </a:r>
            <a:r>
              <a:rPr sz="7500" b="1" spc="-254" dirty="0">
                <a:latin typeface="Arial"/>
                <a:cs typeface="Arial"/>
              </a:rPr>
              <a:t> </a:t>
            </a:r>
            <a:r>
              <a:rPr sz="7500" b="1" spc="-10" dirty="0">
                <a:latin typeface="Arial"/>
                <a:cs typeface="Arial"/>
              </a:rPr>
              <a:t>Title</a:t>
            </a:r>
            <a:endParaRPr sz="7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Problem</a:t>
            </a:r>
            <a:r>
              <a:rPr sz="6200" spc="-180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Statement</a:t>
            </a:r>
            <a:endParaRPr sz="6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36" y="0"/>
            <a:ext cx="2028824" cy="11048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18729" y="2187126"/>
            <a:ext cx="5361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Explain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why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matters.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13E5B2-57C7-9486-858D-0AE6EF465CA3}"/>
              </a:ext>
            </a:extLst>
          </p:cNvPr>
          <p:cNvSpPr txBox="1"/>
          <p:nvPr/>
        </p:nvSpPr>
        <p:spPr>
          <a:xfrm>
            <a:off x="1518729" y="3086100"/>
            <a:ext cx="1509287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Traditional web browsers (Chrome, Edge, Firefox) were built purely for manual human consumption. As AI assistants evolved, integrating automation required clunky browser extensions, third-party API copy-pasting, or external scripts.</a:t>
            </a:r>
          </a:p>
          <a:p>
            <a:r>
              <a:rPr lang="en-IN" sz="2800" dirty="0">
                <a:solidFill>
                  <a:schemeClr val="bg1"/>
                </a:solidFill>
              </a:rPr>
              <a:t>Existing "AI Browsers" or AI automation frameworks suffer from critical drawbacks: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Cloud Lock-in &amp; Privacy Risks</a:t>
            </a:r>
            <a:r>
              <a:rPr lang="en-IN" sz="2800" dirty="0">
                <a:solidFill>
                  <a:schemeClr val="bg1"/>
                </a:solidFill>
              </a:rPr>
              <a:t>: Most AI tools force users to send all browsing data, credentials, and DOM contents to closed-source third-party cloud APIs.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Lack of Local Model Support</a:t>
            </a:r>
            <a:r>
              <a:rPr lang="en-IN" sz="2800" dirty="0">
                <a:solidFill>
                  <a:schemeClr val="bg1"/>
                </a:solidFill>
              </a:rPr>
              <a:t>: Users cannot run AI agents offline or use self-hosted open-source models (like </a:t>
            </a:r>
            <a:r>
              <a:rPr lang="en-IN" sz="2800" dirty="0" err="1">
                <a:solidFill>
                  <a:schemeClr val="bg1"/>
                </a:solidFill>
              </a:rPr>
              <a:t>Ollama</a:t>
            </a:r>
            <a:r>
              <a:rPr lang="en-IN" sz="2800" dirty="0">
                <a:solidFill>
                  <a:schemeClr val="bg1"/>
                </a:solidFill>
              </a:rPr>
              <a:t>, Llama 3, Qwen, or Mistral) for private tasks.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DOM Bloat &amp; High Latency</a:t>
            </a:r>
            <a:r>
              <a:rPr lang="en-IN" sz="2800" dirty="0">
                <a:solidFill>
                  <a:schemeClr val="bg1"/>
                </a:solidFill>
              </a:rPr>
              <a:t>: Modern web pages contain megabytes of scripts, ads, and trackers, which bloat the LLM context window, causing 45s+ delays per step and high API token costs.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Flaky Browser Control</a:t>
            </a:r>
            <a:r>
              <a:rPr lang="en-IN" sz="2800" dirty="0">
                <a:solidFill>
                  <a:schemeClr val="bg1"/>
                </a:solidFill>
              </a:rPr>
              <a:t>: Existing CDP (Chrome </a:t>
            </a:r>
            <a:r>
              <a:rPr lang="en-IN" sz="2800" dirty="0" err="1">
                <a:solidFill>
                  <a:schemeClr val="bg1"/>
                </a:solidFill>
              </a:rPr>
              <a:t>DevTools</a:t>
            </a:r>
            <a:r>
              <a:rPr lang="en-IN" sz="2800" dirty="0">
                <a:solidFill>
                  <a:schemeClr val="bg1"/>
                </a:solidFill>
              </a:rPr>
              <a:t> Protocol) integrations frequently crash or fail on socket connection timeouts (WSAEWOULDBLOCK / port 9222 locked) on desktop OS environments.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PROPOSED</a:t>
            </a:r>
            <a:r>
              <a:rPr sz="6200" spc="-305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SOLUTION: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729" y="2187126"/>
            <a:ext cx="6514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Describe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idea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solves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6699" y="9554063"/>
            <a:ext cx="354129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89E2D6-E5BA-8E04-2583-AAB6675207BD}"/>
              </a:ext>
            </a:extLst>
          </p:cNvPr>
          <p:cNvSpPr txBox="1"/>
          <p:nvPr/>
        </p:nvSpPr>
        <p:spPr>
          <a:xfrm>
            <a:off x="1600200" y="3314700"/>
            <a:ext cx="156972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Pluto Agent Browser</a:t>
            </a:r>
            <a:r>
              <a:rPr lang="en-IN" sz="2800" dirty="0">
                <a:solidFill>
                  <a:schemeClr val="bg1"/>
                </a:solidFill>
              </a:rPr>
              <a:t> is an open-source, AI-native desktop Chromium browser built from the ground up to unite human browsing and autonomous AI agent execution in a single application.</a:t>
            </a:r>
          </a:p>
          <a:p>
            <a:r>
              <a:rPr lang="en-IN" sz="2800" dirty="0">
                <a:solidFill>
                  <a:schemeClr val="bg1"/>
                </a:solidFill>
              </a:rPr>
              <a:t>Pluto connects a multi-tab </a:t>
            </a:r>
            <a:r>
              <a:rPr lang="en-IN" sz="2800" b="1" dirty="0">
                <a:solidFill>
                  <a:schemeClr val="bg1"/>
                </a:solidFill>
              </a:rPr>
              <a:t>Electron desktop shell</a:t>
            </a:r>
            <a:r>
              <a:rPr lang="en-IN" sz="2800" dirty="0">
                <a:solidFill>
                  <a:schemeClr val="bg1"/>
                </a:solidFill>
              </a:rPr>
              <a:t> with a local </a:t>
            </a:r>
            <a:r>
              <a:rPr lang="en-IN" sz="2800" b="1" dirty="0">
                <a:solidFill>
                  <a:schemeClr val="bg1"/>
                </a:solidFill>
              </a:rPr>
              <a:t>Python </a:t>
            </a:r>
            <a:r>
              <a:rPr lang="en-IN" sz="2800" b="1" dirty="0" err="1">
                <a:solidFill>
                  <a:schemeClr val="bg1"/>
                </a:solidFill>
              </a:rPr>
              <a:t>FastAPI</a:t>
            </a:r>
            <a:r>
              <a:rPr lang="en-IN" sz="2800" b="1" dirty="0">
                <a:solidFill>
                  <a:schemeClr val="bg1"/>
                </a:solidFill>
              </a:rPr>
              <a:t> backend</a:t>
            </a:r>
            <a:r>
              <a:rPr lang="en-IN" sz="2800" dirty="0">
                <a:solidFill>
                  <a:schemeClr val="bg1"/>
                </a:solidFill>
              </a:rPr>
              <a:t> powered by an optimized browser-use CDP controller.</a:t>
            </a:r>
          </a:p>
          <a:p>
            <a:r>
              <a:rPr lang="en-IN" sz="2800" dirty="0">
                <a:solidFill>
                  <a:schemeClr val="bg1"/>
                </a:solidFill>
              </a:rPr>
              <a:t>Key aspects of Pluto's solution: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Local &amp; Cloud LLM Freedom</a:t>
            </a:r>
            <a:r>
              <a:rPr lang="en-IN" sz="2800" dirty="0">
                <a:solidFill>
                  <a:schemeClr val="bg1"/>
                </a:solidFill>
              </a:rPr>
              <a:t>: Native out-of-the-box support for local models via </a:t>
            </a:r>
            <a:r>
              <a:rPr lang="en-IN" sz="2800" b="1" dirty="0" err="1">
                <a:solidFill>
                  <a:schemeClr val="bg1"/>
                </a:solidFill>
              </a:rPr>
              <a:t>Ollama</a:t>
            </a:r>
            <a:r>
              <a:rPr lang="en-IN" sz="2800" dirty="0">
                <a:solidFill>
                  <a:schemeClr val="bg1"/>
                </a:solidFill>
              </a:rPr>
              <a:t>, as well as high-speed cloud models (</a:t>
            </a:r>
            <a:r>
              <a:rPr lang="en-IN" sz="2800" dirty="0" err="1">
                <a:solidFill>
                  <a:schemeClr val="bg1"/>
                </a:solidFill>
              </a:rPr>
              <a:t>ChatBrowserUse</a:t>
            </a:r>
            <a:r>
              <a:rPr lang="en-IN" sz="2800" dirty="0">
                <a:solidFill>
                  <a:schemeClr val="bg1"/>
                </a:solidFill>
              </a:rPr>
              <a:t>, Gemini, Claude, GPT-4o).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Sub-5-Second "Antigravity" Fast Mode</a:t>
            </a:r>
            <a:r>
              <a:rPr lang="en-IN" sz="2800" dirty="0">
                <a:solidFill>
                  <a:schemeClr val="bg1"/>
                </a:solidFill>
              </a:rPr>
              <a:t>: Incorporates $O(1)$ context history pruning, low-detail image token reduction, and instant IPC same-tab routing.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Built-in Adblocking &amp; DOM Pruning</a:t>
            </a:r>
            <a:r>
              <a:rPr lang="en-IN" sz="2800" dirty="0">
                <a:solidFill>
                  <a:schemeClr val="bg1"/>
                </a:solidFill>
              </a:rPr>
              <a:t>: Integrated </a:t>
            </a:r>
            <a:r>
              <a:rPr lang="en-IN" sz="2800" dirty="0" err="1">
                <a:solidFill>
                  <a:schemeClr val="bg1"/>
                </a:solidFill>
              </a:rPr>
              <a:t>Ghostery</a:t>
            </a:r>
            <a:r>
              <a:rPr lang="en-IN" sz="2800" dirty="0">
                <a:solidFill>
                  <a:schemeClr val="bg1"/>
                </a:solidFill>
              </a:rPr>
              <a:t>/</a:t>
            </a:r>
            <a:r>
              <a:rPr lang="en-IN" sz="2800" dirty="0" err="1">
                <a:solidFill>
                  <a:schemeClr val="bg1"/>
                </a:solidFill>
              </a:rPr>
              <a:t>uBlock</a:t>
            </a:r>
            <a:r>
              <a:rPr lang="en-IN" sz="2800" dirty="0">
                <a:solidFill>
                  <a:schemeClr val="bg1"/>
                </a:solidFill>
              </a:rPr>
              <a:t> engine strips trackers and ads before sending page data to the LLM, reducing token cost by over 60%.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Resilient Multi-Process Architecture</a:t>
            </a:r>
            <a:r>
              <a:rPr lang="en-IN" sz="2800" dirty="0">
                <a:solidFill>
                  <a:schemeClr val="bg1"/>
                </a:solidFill>
              </a:rPr>
              <a:t>: Built-in dynamic CDP port selection and zombie process force-cleanup guarantee 100% startup reliability on desktop operating systems.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10" dirty="0">
                <a:latin typeface="Arial MT"/>
                <a:cs typeface="Arial MT"/>
              </a:rPr>
              <a:t>Features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729" y="2187126"/>
            <a:ext cx="4262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4–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6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features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solution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119BE2-3187-987D-734B-88CD48761312}"/>
              </a:ext>
            </a:extLst>
          </p:cNvPr>
          <p:cNvSpPr txBox="1"/>
          <p:nvPr/>
        </p:nvSpPr>
        <p:spPr>
          <a:xfrm>
            <a:off x="1505175" y="2857500"/>
            <a:ext cx="12287025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dirty="0">
                <a:solidFill>
                  <a:schemeClr val="bg1"/>
                </a:solidFill>
              </a:rPr>
              <a:t>🪐 </a:t>
            </a:r>
            <a:r>
              <a:rPr lang="en-IN" sz="2800" b="1" dirty="0">
                <a:solidFill>
                  <a:schemeClr val="bg1"/>
                </a:solidFill>
              </a:rPr>
              <a:t>Native AI Sidebar</a:t>
            </a:r>
            <a:r>
              <a:rPr lang="en-IN" sz="2800" dirty="0">
                <a:solidFill>
                  <a:schemeClr val="bg1"/>
                </a:solidFill>
              </a:rPr>
              <a:t>: Execute complex natural language tasks ("</a:t>
            </a:r>
            <a:r>
              <a:rPr lang="en-IN" sz="2800" i="1" dirty="0">
                <a:solidFill>
                  <a:schemeClr val="bg1"/>
                </a:solidFill>
              </a:rPr>
              <a:t>Find top Show HN post</a:t>
            </a:r>
            <a:r>
              <a:rPr lang="en-IN" sz="2800" dirty="0">
                <a:solidFill>
                  <a:schemeClr val="bg1"/>
                </a:solidFill>
              </a:rPr>
              <a:t>", "</a:t>
            </a:r>
            <a:r>
              <a:rPr lang="en-IN" sz="2800" i="1" dirty="0">
                <a:solidFill>
                  <a:schemeClr val="bg1"/>
                </a:solidFill>
              </a:rPr>
              <a:t>Fill out form</a:t>
            </a:r>
            <a:r>
              <a:rPr lang="en-IN" sz="2800" dirty="0">
                <a:solidFill>
                  <a:schemeClr val="bg1"/>
                </a:solidFill>
              </a:rPr>
              <a:t>", "</a:t>
            </a:r>
            <a:r>
              <a:rPr lang="en-IN" sz="2800" i="1" dirty="0">
                <a:solidFill>
                  <a:schemeClr val="bg1"/>
                </a:solidFill>
              </a:rPr>
              <a:t>Compare prices</a:t>
            </a:r>
            <a:r>
              <a:rPr lang="en-IN" sz="2800" dirty="0">
                <a:solidFill>
                  <a:schemeClr val="bg1"/>
                </a:solidFill>
              </a:rPr>
              <a:t>") right alongside your active tabs.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⚡ </a:t>
            </a:r>
            <a:r>
              <a:rPr lang="en-IN" sz="2800" b="1" dirty="0">
                <a:solidFill>
                  <a:schemeClr val="bg1"/>
                </a:solidFill>
              </a:rPr>
              <a:t>Antigravity Fast Mode</a:t>
            </a:r>
            <a:r>
              <a:rPr lang="en-IN" sz="2800" dirty="0">
                <a:solidFill>
                  <a:schemeClr val="bg1"/>
                </a:solidFill>
              </a:rPr>
              <a:t>: Sub-5-second execution for warm, routine automation tasks.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💻 </a:t>
            </a:r>
            <a:r>
              <a:rPr lang="en-IN" sz="2800" b="1" dirty="0">
                <a:solidFill>
                  <a:schemeClr val="bg1"/>
                </a:solidFill>
              </a:rPr>
              <a:t>Offline &amp; Local LLM Ready</a:t>
            </a:r>
            <a:r>
              <a:rPr lang="en-IN" sz="2800" dirty="0">
                <a:solidFill>
                  <a:schemeClr val="bg1"/>
                </a:solidFill>
              </a:rPr>
              <a:t>: Run agents locally with </a:t>
            </a:r>
            <a:r>
              <a:rPr lang="en-IN" sz="2800" dirty="0" err="1">
                <a:solidFill>
                  <a:schemeClr val="bg1"/>
                </a:solidFill>
              </a:rPr>
              <a:t>Ollama</a:t>
            </a:r>
            <a:r>
              <a:rPr lang="en-IN" sz="2800" dirty="0">
                <a:solidFill>
                  <a:schemeClr val="bg1"/>
                </a:solidFill>
              </a:rPr>
              <a:t> (Llama 3, Qwen 2.5, DeepSeek) for total data privacy without sending tokens to cloud servers.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🔵 </a:t>
            </a:r>
            <a:r>
              <a:rPr lang="en-IN" sz="2800" b="1" dirty="0">
                <a:solidFill>
                  <a:schemeClr val="bg1"/>
                </a:solidFill>
              </a:rPr>
              <a:t>Active Control Glow Signal</a:t>
            </a:r>
            <a:r>
              <a:rPr lang="en-IN" sz="2800" dirty="0">
                <a:solidFill>
                  <a:schemeClr val="bg1"/>
                </a:solidFill>
              </a:rPr>
              <a:t>: Sleek animated visual indicator that alerts human operators whenever the AI agent takes control of screen interactions.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🛡️ </a:t>
            </a:r>
            <a:r>
              <a:rPr lang="en-IN" sz="2800" b="1" dirty="0">
                <a:solidFill>
                  <a:schemeClr val="bg1"/>
                </a:solidFill>
              </a:rPr>
              <a:t>Stealth Shields &amp; Tracker Blocking</a:t>
            </a:r>
            <a:r>
              <a:rPr lang="en-IN" sz="2800" dirty="0">
                <a:solidFill>
                  <a:schemeClr val="bg1"/>
                </a:solidFill>
              </a:rPr>
              <a:t>: Native adblocker strips DOM bloat before sending visual/DOM context to the model.</a:t>
            </a:r>
          </a:p>
          <a:p>
            <a:pPr lvl="0"/>
            <a:r>
              <a:rPr lang="en-IN" sz="2800" dirty="0">
                <a:solidFill>
                  <a:schemeClr val="bg1"/>
                </a:solidFill>
              </a:rPr>
              <a:t>🧰 </a:t>
            </a:r>
            <a:r>
              <a:rPr lang="en-IN" sz="2800" b="1" dirty="0">
                <a:solidFill>
                  <a:schemeClr val="bg1"/>
                </a:solidFill>
              </a:rPr>
              <a:t>Extensible Skill Engine</a:t>
            </a:r>
            <a:r>
              <a:rPr lang="en-IN" sz="2800" dirty="0">
                <a:solidFill>
                  <a:schemeClr val="bg1"/>
                </a:solidFill>
              </a:rPr>
              <a:t>: Pre-loaded with custom automation skills (e.g., </a:t>
            </a:r>
            <a:r>
              <a:rPr lang="en-IN" sz="2800" dirty="0" err="1">
                <a:solidFill>
                  <a:schemeClr val="bg1"/>
                </a:solidFill>
              </a:rPr>
              <a:t>CodeChef</a:t>
            </a:r>
            <a:r>
              <a:rPr lang="en-IN" sz="2800" dirty="0">
                <a:solidFill>
                  <a:schemeClr val="bg1"/>
                </a:solidFill>
              </a:rPr>
              <a:t> module solving, Canva design recreation, multi-tab scraping).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10" dirty="0">
                <a:latin typeface="Arial MT"/>
                <a:cs typeface="Arial MT"/>
              </a:rPr>
              <a:t>Idea/Approach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729" y="2196651"/>
            <a:ext cx="98723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5" dirty="0">
                <a:solidFill>
                  <a:srgbClr val="FFFFFF"/>
                </a:solidFill>
                <a:latin typeface="Tahoma"/>
                <a:cs typeface="Tahoma"/>
              </a:rPr>
              <a:t>Mention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technologies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Tahoma"/>
                <a:cs typeface="Tahoma"/>
              </a:rPr>
              <a:t>be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Tahoma"/>
                <a:cs typeface="Tahoma"/>
              </a:rPr>
              <a:t>used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400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brief</a:t>
            </a:r>
            <a:r>
              <a:rPr sz="24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ahoma"/>
                <a:cs typeface="Tahoma"/>
              </a:rPr>
              <a:t>description.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FB2911-8582-AF27-7734-8C4C18690C5A}"/>
              </a:ext>
            </a:extLst>
          </p:cNvPr>
          <p:cNvSpPr txBox="1"/>
          <p:nvPr/>
        </p:nvSpPr>
        <p:spPr>
          <a:xfrm>
            <a:off x="1752600" y="2781300"/>
            <a:ext cx="15240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Pluto solves the fundamental problem of agent-browser communication by making the desktop browser shell itself aware of the agent backend.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Dual-Tab Synchronous Rendering</a:t>
            </a:r>
            <a:r>
              <a:rPr lang="en-IN" sz="2800" dirty="0">
                <a:solidFill>
                  <a:schemeClr val="bg1"/>
                </a:solidFill>
              </a:rPr>
              <a:t>: When an agent executes a task, it doesn't open a hidden headless instance; it attaches directly to Electron </a:t>
            </a:r>
            <a:r>
              <a:rPr lang="en-IN" sz="2800" dirty="0" err="1">
                <a:solidFill>
                  <a:schemeClr val="bg1"/>
                </a:solidFill>
              </a:rPr>
              <a:t>BrowserView</a:t>
            </a:r>
            <a:r>
              <a:rPr lang="en-IN" sz="2800" dirty="0">
                <a:solidFill>
                  <a:schemeClr val="bg1"/>
                </a:solidFill>
              </a:rPr>
              <a:t> tabs via CDP.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Context-Optimized Token Pruning</a:t>
            </a:r>
            <a:r>
              <a:rPr lang="en-IN" sz="2800" dirty="0">
                <a:solidFill>
                  <a:schemeClr val="bg1"/>
                </a:solidFill>
              </a:rPr>
              <a:t>: Instead of sending the full DOM history on every turn, Pluto trims history down to $O(1)$ step windows (</a:t>
            </a:r>
            <a:r>
              <a:rPr lang="en-IN" sz="2800" dirty="0" err="1">
                <a:solidFill>
                  <a:schemeClr val="bg1"/>
                </a:solidFill>
              </a:rPr>
              <a:t>max_history_items</a:t>
            </a:r>
            <a:r>
              <a:rPr lang="en-IN" sz="2800" dirty="0">
                <a:solidFill>
                  <a:schemeClr val="bg1"/>
                </a:solidFill>
              </a:rPr>
              <a:t>=6) and compresses screenshots, achieving 4× reduction in token payload size.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Dynamic Socket Isolation</a:t>
            </a:r>
            <a:r>
              <a:rPr lang="en-IN" sz="2800" dirty="0">
                <a:solidFill>
                  <a:schemeClr val="bg1"/>
                </a:solidFill>
              </a:rPr>
              <a:t>: Electron dynamically checks and assigns available CDP ports (9222, 9223, 9224...) at startup, passing environment variables down to the backend process to eliminate socket conflicts.</a:t>
            </a:r>
          </a:p>
          <a:p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6200" dirty="0">
                <a:latin typeface="Arial MT"/>
                <a:cs typeface="Arial MT"/>
              </a:rPr>
              <a:t>System</a:t>
            </a:r>
            <a:r>
              <a:rPr lang="en-IN" sz="6200" spc="-140" dirty="0">
                <a:latin typeface="Arial MT"/>
                <a:cs typeface="Arial MT"/>
              </a:rPr>
              <a:t> </a:t>
            </a:r>
            <a:r>
              <a:rPr lang="en-IN" sz="6200" dirty="0">
                <a:latin typeface="Arial MT"/>
                <a:cs typeface="Arial MT"/>
              </a:rPr>
              <a:t>Architecture</a:t>
            </a:r>
            <a:r>
              <a:rPr lang="en-IN" sz="6200" spc="-140" dirty="0">
                <a:latin typeface="Arial MT"/>
                <a:cs typeface="Arial MT"/>
              </a:rPr>
              <a:t> </a:t>
            </a:r>
            <a:r>
              <a:rPr lang="en-IN" sz="6200" dirty="0">
                <a:latin typeface="Arial MT"/>
                <a:cs typeface="Arial MT"/>
              </a:rPr>
              <a:t>/</a:t>
            </a:r>
            <a:r>
              <a:rPr lang="en-IN" sz="6200" spc="-140" dirty="0">
                <a:latin typeface="Arial MT"/>
                <a:cs typeface="Arial MT"/>
              </a:rPr>
              <a:t> </a:t>
            </a:r>
            <a:r>
              <a:rPr lang="en-IN" sz="6200" spc="-10" dirty="0">
                <a:latin typeface="Arial MT"/>
                <a:cs typeface="Arial MT"/>
              </a:rPr>
              <a:t>Workflow</a:t>
            </a:r>
            <a:endParaRPr lang="en-IN" sz="6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438150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9DF16C-2992-F93D-DB3E-2462D00955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073789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Innovation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&amp;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Existing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Solutions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05175" y="3318354"/>
            <a:ext cx="8640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5" dirty="0">
                <a:solidFill>
                  <a:srgbClr val="FFFFFF"/>
                </a:solidFill>
                <a:latin typeface="Tahoma"/>
                <a:cs typeface="Tahoma"/>
              </a:rPr>
              <a:t>Compare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existing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Tahoma"/>
                <a:cs typeface="Tahoma"/>
              </a:rPr>
              <a:t>solutions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Tahoma"/>
                <a:cs typeface="Tahoma"/>
              </a:rPr>
              <a:t>team's</a:t>
            </a:r>
            <a:r>
              <a:rPr sz="2400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ahoma"/>
                <a:cs typeface="Tahoma"/>
              </a:rPr>
              <a:t>proposed</a:t>
            </a:r>
            <a:r>
              <a:rPr sz="2400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Tahoma"/>
                <a:cs typeface="Tahoma"/>
              </a:rPr>
              <a:t>solution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6375DB-497C-293C-7D9D-8AFF101CC07C}"/>
              </a:ext>
            </a:extLst>
          </p:cNvPr>
          <p:cNvSpPr txBox="1"/>
          <p:nvPr/>
        </p:nvSpPr>
        <p:spPr>
          <a:xfrm>
            <a:off x="1371600" y="3848100"/>
            <a:ext cx="153162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b="1" dirty="0">
                <a:solidFill>
                  <a:schemeClr val="bg1"/>
                </a:solidFill>
              </a:rPr>
              <a:t>User Prompt</a:t>
            </a:r>
            <a:r>
              <a:rPr lang="en-IN" sz="2800" dirty="0">
                <a:solidFill>
                  <a:schemeClr val="bg1"/>
                </a:solidFill>
              </a:rPr>
              <a:t>: User types a task in the Pluto AI sidebar (e.g., </a:t>
            </a:r>
            <a:r>
              <a:rPr lang="en-IN" sz="2800" i="1" dirty="0">
                <a:solidFill>
                  <a:schemeClr val="bg1"/>
                </a:solidFill>
              </a:rPr>
              <a:t>"Sign in and download monthly invoice"</a:t>
            </a:r>
            <a:r>
              <a:rPr lang="en-IN" sz="2800" dirty="0">
                <a:solidFill>
                  <a:schemeClr val="bg1"/>
                </a:solidFill>
              </a:rPr>
              <a:t>).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Target Discovery</a:t>
            </a:r>
            <a:r>
              <a:rPr lang="en-IN" sz="2800" dirty="0">
                <a:solidFill>
                  <a:schemeClr val="bg1"/>
                </a:solidFill>
              </a:rPr>
              <a:t>: </a:t>
            </a:r>
            <a:r>
              <a:rPr lang="en-IN" sz="2800" dirty="0" err="1">
                <a:solidFill>
                  <a:schemeClr val="bg1"/>
                </a:solidFill>
              </a:rPr>
              <a:t>FastAPI</a:t>
            </a:r>
            <a:r>
              <a:rPr lang="en-IN" sz="2800" dirty="0">
                <a:solidFill>
                  <a:schemeClr val="bg1"/>
                </a:solidFill>
              </a:rPr>
              <a:t> backend queries Electron's active tabs via CDP /</a:t>
            </a:r>
            <a:r>
              <a:rPr lang="en-IN" sz="2800" dirty="0" err="1">
                <a:solidFill>
                  <a:schemeClr val="bg1"/>
                </a:solidFill>
              </a:rPr>
              <a:t>json</a:t>
            </a:r>
            <a:r>
              <a:rPr lang="en-IN" sz="2800" dirty="0">
                <a:solidFill>
                  <a:schemeClr val="bg1"/>
                </a:solidFill>
              </a:rPr>
              <a:t>/list and binds to the exact active </a:t>
            </a:r>
            <a:r>
              <a:rPr lang="en-IN" sz="2800" dirty="0" err="1">
                <a:solidFill>
                  <a:schemeClr val="bg1"/>
                </a:solidFill>
              </a:rPr>
              <a:t>BrowserView</a:t>
            </a:r>
            <a:r>
              <a:rPr lang="en-IN" sz="2800" dirty="0">
                <a:solidFill>
                  <a:schemeClr val="bg1"/>
                </a:solidFill>
              </a:rPr>
              <a:t>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DOM &amp; Visual Pruning</a:t>
            </a:r>
            <a:r>
              <a:rPr lang="en-IN" sz="2800" dirty="0">
                <a:solidFill>
                  <a:schemeClr val="bg1"/>
                </a:solidFill>
              </a:rPr>
              <a:t>: The page is rendered through Pluto's built-in adblocker, stripping tracker nodes. Screenshots are scaled down to 800x500.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Model Inference</a:t>
            </a:r>
            <a:r>
              <a:rPr lang="en-IN" sz="2800" dirty="0">
                <a:solidFill>
                  <a:schemeClr val="bg1"/>
                </a:solidFill>
              </a:rPr>
              <a:t>: The agent queries either the local </a:t>
            </a:r>
            <a:r>
              <a:rPr lang="en-IN" sz="2800" dirty="0" err="1">
                <a:solidFill>
                  <a:schemeClr val="bg1"/>
                </a:solidFill>
              </a:rPr>
              <a:t>Ollama</a:t>
            </a:r>
            <a:r>
              <a:rPr lang="en-IN" sz="2800" dirty="0">
                <a:solidFill>
                  <a:schemeClr val="bg1"/>
                </a:solidFill>
              </a:rPr>
              <a:t> instance or the configured Cloud API (</a:t>
            </a:r>
            <a:r>
              <a:rPr lang="en-IN" sz="2800" dirty="0" err="1">
                <a:solidFill>
                  <a:schemeClr val="bg1"/>
                </a:solidFill>
              </a:rPr>
              <a:t>ChatBrowserUse</a:t>
            </a:r>
            <a:r>
              <a:rPr lang="en-IN" sz="2800" dirty="0">
                <a:solidFill>
                  <a:schemeClr val="bg1"/>
                </a:solidFill>
              </a:rPr>
              <a:t>).</a:t>
            </a:r>
          </a:p>
          <a:p>
            <a:pPr lvl="0"/>
            <a:r>
              <a:rPr lang="en-IN" sz="2800" b="1" dirty="0">
                <a:solidFill>
                  <a:schemeClr val="bg1"/>
                </a:solidFill>
              </a:rPr>
              <a:t>Action Execution</a:t>
            </a:r>
            <a:r>
              <a:rPr lang="en-IN" sz="2800" dirty="0">
                <a:solidFill>
                  <a:schemeClr val="bg1"/>
                </a:solidFill>
              </a:rPr>
              <a:t>: Actions (clicks, typing, scroll, tab switches) are dispatched back to Chromium via CDP with active visual glow feedback.</a:t>
            </a:r>
          </a:p>
          <a:p>
            <a:br>
              <a:rPr lang="en-IN" sz="2800" dirty="0">
                <a:solidFill>
                  <a:schemeClr val="bg1"/>
                </a:solidFill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Impact</a:t>
            </a:r>
            <a:r>
              <a:rPr sz="6200" spc="-114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&amp;</a:t>
            </a:r>
            <a:r>
              <a:rPr sz="6200" spc="-110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Future</a:t>
            </a:r>
            <a:r>
              <a:rPr sz="6200" spc="-110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Scope</a:t>
            </a:r>
            <a:endParaRPr sz="6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49" y="9554063"/>
            <a:ext cx="3560349" cy="7329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4" y="0"/>
            <a:ext cx="2171699" cy="195277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87AF49-21C2-FE2E-FD35-E62F832EA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106985"/>
              </p:ext>
            </p:extLst>
          </p:nvPr>
        </p:nvGraphicFramePr>
        <p:xfrm>
          <a:off x="3048000" y="2095500"/>
          <a:ext cx="12192000" cy="78943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55325626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5583228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60991490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84794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rgbClr val="CCCCCC"/>
                          </a:solidFill>
                          <a:effectLst/>
                        </a:rPr>
                        <a:t>Feature / Metric</a:t>
                      </a:r>
                      <a:endParaRPr lang="en-IN" sz="2800" b="0" i="0" dirty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>
                          <a:solidFill>
                            <a:srgbClr val="CCCCCC"/>
                          </a:solidFill>
                          <a:effectLst/>
                        </a:rPr>
                        <a:t>Traditional Browsers (Chrome + Ext)</a:t>
                      </a:r>
                      <a:endParaRPr lang="en-IN" sz="2800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rgbClr val="CCCCCC"/>
                          </a:solidFill>
                          <a:effectLst/>
                        </a:rPr>
                        <a:t>Cloud-Only AI Browsers</a:t>
                      </a:r>
                      <a:endParaRPr lang="en-IN" sz="2800" b="0" i="0" dirty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rgbClr val="CCCCCC"/>
                          </a:solidFill>
                          <a:effectLst/>
                        </a:rPr>
                        <a:t>Pluto Agent Browser</a:t>
                      </a:r>
                      <a:endParaRPr lang="en-IN" sz="2800" b="0" i="0">
                        <a:solidFill>
                          <a:srgbClr val="CCCCCC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094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effectLst/>
                        </a:rPr>
                        <a:t>Local LLM Support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>
                          <a:solidFill>
                            <a:schemeClr val="tx1"/>
                          </a:solidFill>
                          <a:effectLst/>
                        </a:rPr>
                        <a:t>❌ No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❌ No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✅ Yes (Ollama, local endpoints)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323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effectLst/>
                        </a:rPr>
                        <a:t>Data Privacy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⚠️ Low (Cloud extensions)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>
                          <a:solidFill>
                            <a:schemeClr val="tx1"/>
                          </a:solidFill>
                          <a:effectLst/>
                        </a:rPr>
                        <a:t>❌ Closed Cloud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✅ 100% Local / Private Execution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220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Task Speed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🐢 Manual / Slow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⏱️ ~30s – 60s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⚡ Sub-5s (Antigravity Fast Mode)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4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DOM Bloat Reduction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❌ No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❌ Partial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✅ Built-in Adblock &amp; Tracker Pruning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307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effectLst/>
                        </a:rPr>
                        <a:t>Visual Feedback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>
                          <a:solidFill>
                            <a:schemeClr val="tx1"/>
                          </a:solidFill>
                          <a:effectLst/>
                        </a:rPr>
                        <a:t>❌ None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⚠️ Minimal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>
                          <a:solidFill>
                            <a:schemeClr val="tx1"/>
                          </a:solidFill>
                          <a:effectLst/>
                        </a:rPr>
                        <a:t>✅ Real-time Glow Aura Indicator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810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effectLst/>
                        </a:rPr>
                        <a:t>License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>
                          <a:solidFill>
                            <a:schemeClr val="tx1"/>
                          </a:solidFill>
                          <a:effectLst/>
                        </a:rPr>
                        <a:t>Closed Source</a:t>
                      </a:r>
                      <a:endParaRPr lang="en-IN" sz="2800" b="0" i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0" dirty="0">
                          <a:solidFill>
                            <a:schemeClr val="tx1"/>
                          </a:solidFill>
                          <a:effectLst/>
                        </a:rPr>
                        <a:t>Commercial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2800" b="1" dirty="0">
                          <a:solidFill>
                            <a:schemeClr val="tx1"/>
                          </a:solidFill>
                          <a:effectLst/>
                        </a:rPr>
                        <a:t>✅ 100% Open Source (MIT)</a:t>
                      </a:r>
                      <a:endParaRPr lang="en-IN" sz="280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23901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014528" y="3968725"/>
            <a:ext cx="8463472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505" dirty="0"/>
              <a:t>Thank You</a:t>
            </a:r>
            <a:endParaRPr spc="-9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965</Words>
  <Application>Microsoft Office PowerPoint</Application>
  <PresentationFormat>Custom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MT</vt:lpstr>
      <vt:lpstr>Calibri</vt:lpstr>
      <vt:lpstr>Segoe WPC</vt:lpstr>
      <vt:lpstr>Tahoma</vt:lpstr>
      <vt:lpstr>Office Theme</vt:lpstr>
      <vt:lpstr>Project Title</vt:lpstr>
      <vt:lpstr>Problem Statement</vt:lpstr>
      <vt:lpstr>PROPOSED SOLUTION:</vt:lpstr>
      <vt:lpstr>Features</vt:lpstr>
      <vt:lpstr>Idea/Approach</vt:lpstr>
      <vt:lpstr>System Architecture / Workflow</vt:lpstr>
      <vt:lpstr>Innovation &amp; Existing Solutions</vt:lpstr>
      <vt:lpstr>Impact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HackFusion Template</dc:title>
  <dc:creator>Hema Manoj</dc:creator>
  <cp:keywords>DAHRP3OOnmU,BAErOPV7AUQ</cp:keywords>
  <cp:lastModifiedBy>Goutham Reddy</cp:lastModifiedBy>
  <cp:revision>3</cp:revision>
  <dcterms:created xsi:type="dcterms:W3CDTF">2026-08-14T08:06:42Z</dcterms:created>
  <dcterms:modified xsi:type="dcterms:W3CDTF">2026-08-14T14:55:22Z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2026-08-14T00:00:00Z</vt:filetime>
  </property>
  <property fmtid="{D5CDD505-2E9C-101B-9397-08002B2CF9AE}" pid="6" name="Producer">
    <vt:lpwstr>Canva</vt:lpwstr>
  </property>
</Properties>
</file>