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jpg" ContentType="image/jpg"/>
  <Override PartName="/ppt/media/image5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82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5175" y="924388"/>
            <a:ext cx="10963275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305424" cy="454456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14528" y="3968725"/>
            <a:ext cx="6002655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520" y="4389120"/>
            <a:ext cx="15330016" cy="3552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spcAft>
                <a:spcPts val="500"/>
              </a:spcAft>
            </a:pPr>
            <a:r>
              <a:rPr sz="2100" b="1">
                <a:solidFill>
                  <a:srgbClr val="38BDF8"/>
                </a:solidFill>
                <a:latin typeface="Segoe UI"/>
              </a:rPr>
              <a:t>Team Name         </a:t>
            </a:r>
            <a:r>
              <a:rPr sz="2100" b="1">
                <a:solidFill>
                  <a:srgbClr val="38BDF8"/>
                </a:solidFill>
                <a:latin typeface="Segoe UI"/>
              </a:rPr>
              <a:t>:  MARK42</a:t>
            </a:r>
            <a:endParaRPr sz="4000" dirty="0">
              <a:latin typeface="Arial"/>
              <a:cs typeface="Arial"/>
            </a:endParaRPr>
          </a:p>
          <a:p>
            <a:pPr>
              <a:spcAft>
                <a:spcPts val="500"/>
              </a:spcAft>
            </a:pPr>
            <a:r>
              <a:rPr sz="2100" b="1">
                <a:solidFill>
                  <a:srgbClr val="38BDF8"/>
                </a:solidFill>
                <a:latin typeface="Segoe UI"/>
              </a:rPr>
              <a:t>Team Leader Name  </a:t>
            </a:r>
            <a:r>
              <a:rPr sz="2100" b="1">
                <a:solidFill>
                  <a:srgbClr val="FFFFFF"/>
                </a:solidFill>
                <a:latin typeface="Segoe UI"/>
              </a:rPr>
              <a:t>:  GOUTHAM REDDY ESAMBADI</a:t>
            </a:r>
          </a:p>
          <a:p>
            <a:pPr>
              <a:spcAft>
                <a:spcPts val="500"/>
              </a:spcAft>
            </a:pPr>
            <a:r>
              <a:rPr sz="2100" b="1">
                <a:solidFill>
                  <a:srgbClr val="38BDF8"/>
                </a:solidFill>
                <a:latin typeface="Segoe UI"/>
              </a:rPr>
              <a:t>Team Members      </a:t>
            </a:r>
            <a:r>
              <a:rPr sz="2100" b="1">
                <a:solidFill>
                  <a:srgbClr val="FFFFFF"/>
                </a:solidFill>
                <a:latin typeface="Segoe UI"/>
              </a:rPr>
              <a:t>:  KANIKSHA S</a:t>
            </a:r>
          </a:p>
          <a:p>
            <a:pPr>
              <a:spcAft>
                <a:spcPts val="500"/>
              </a:spcAft>
            </a:pPr>
            <a:r>
              <a:rPr sz="2100">
                <a:latin typeface="Segoe UI"/>
              </a:rPr>
              <a:t>                  </a:t>
            </a:r>
            <a:r>
              <a:rPr sz="2100" b="0">
                <a:solidFill>
                  <a:srgbClr val="FFFFFF"/>
                </a:solidFill>
                <a:latin typeface="Segoe UI"/>
              </a:rPr>
              <a:t>   ELISETTY SOWMYA</a:t>
            </a:r>
          </a:p>
          <a:p>
            <a:pPr>
              <a:spcAft>
                <a:spcPts val="500"/>
              </a:spcAft>
            </a:pPr>
            <a:r>
              <a:rPr sz="2100">
                <a:latin typeface="Segoe UI"/>
              </a:rPr>
              <a:t>                  </a:t>
            </a:r>
            <a:r>
              <a:rPr sz="2100" b="0">
                <a:solidFill>
                  <a:srgbClr val="FFFFFF"/>
                </a:solidFill>
                <a:latin typeface="Segoe UI"/>
              </a:rPr>
              <a:t>   DUTALLURI KARIMULLA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961120" y="1645920"/>
            <a:ext cx="868680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5400" b="1">
                <a:solidFill>
                  <a:srgbClr val="FFFFFF"/>
                </a:solidFill>
                <a:latin typeface="Segoe UI"/>
              </a:rPr>
              <a:t>TradeSentinel</a:t>
            </a:r>
            <a:endParaRPr sz="7500">
              <a:latin typeface="Arial"/>
              <a:cs typeface="Arial"/>
            </a:endParaRP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38BDF8"/>
                </a:solidFill>
                <a:latin typeface="Segoe UI"/>
              </a:rPr>
              <a:t>AI-Powered Business Automation Copilot for Logistics</a:t>
            </a:r>
          </a:p>
          <a:p>
            <a:pPr>
              <a:spcBef>
                <a:spcPts val="600"/>
              </a:spcBef>
            </a:pPr>
            <a:r>
              <a:rPr sz="1600" i="1">
                <a:solidFill>
                  <a:srgbClr val="E2E8F0"/>
                </a:solidFill>
                <a:latin typeface="Segoe UI"/>
              </a:rPr>
              <a:t>Transforming Complex Supply Chain Decisions into Executable, Self-Optimizing Workflows (PS4)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1508760" y="868680"/>
            <a:ext cx="11430000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4000" b="1">
                <a:solidFill>
                  <a:srgbClr val="FFFFFF"/>
                </a:solidFill>
                <a:latin typeface="Segoe UI"/>
              </a:rPr>
              <a:t>Problem Statement</a:t>
            </a:r>
            <a:endParaRPr sz="6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36" y="0"/>
            <a:ext cx="2028824" cy="11048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08760" y="1920240"/>
            <a:ext cx="1280160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800" b="0" i="1">
                <a:solidFill>
                  <a:srgbClr val="38BDF8"/>
                </a:solidFill>
                <a:latin typeface="Segoe UI"/>
              </a:rPr>
              <a:t>The Critical Operational &amp; Automation Bottlenecks in Modern Logistics (PS4)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3E5B2-57C7-9486-858D-0AE6EF465CA3}"/>
              </a:ext>
            </a:extLst>
          </p:cNvPr>
          <p:cNvSpPr txBox="1"/>
          <p:nvPr/>
        </p:nvSpPr>
        <p:spPr>
          <a:xfrm>
            <a:off x="1508760" y="2651760"/>
            <a:ext cx="15087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1">
                <a:solidFill>
                  <a:srgbClr val="38BDF8"/>
                </a:solidFill>
                <a:latin typeface="Segoe UI"/>
              </a:rPr>
              <a:t>Repetitive Manual Decision Loops — </a:t>
            </a:r>
            <a:r>
              <a:rPr sz="1550" b="0">
                <a:solidFill>
                  <a:srgbClr val="E2E8F0"/>
                </a:solidFill>
                <a:latin typeface="Segoe UI"/>
              </a:rPr>
              <a:t>Logistics teams repeatedly evaluate risk levels, recalculate ETAs, inspect customs delays, and coordinate rerouting across disconnected spreadsheets and portals over 180+ times per month.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1">
                <a:solidFill>
                  <a:srgbClr val="38BDF8"/>
                </a:solidFill>
                <a:latin typeface="Segoe UI"/>
              </a:rPr>
              <a:t>High Technical Barrier to Automation — </a:t>
            </a:r>
            <a:r>
              <a:rPr sz="1550" b="0">
                <a:solidFill>
                  <a:srgbClr val="E2E8F0"/>
                </a:solidFill>
                <a:latin typeface="Segoe UI"/>
              </a:rPr>
              <a:t>Operations managers clearly understand business rules (e.g., 'If risk &gt; 70 and delay &gt; 2 days, find alternate routes'), but lack programming, RPA scripting, or API expertise to build automations.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1">
                <a:solidFill>
                  <a:srgbClr val="38BDF8"/>
                </a:solidFill>
                <a:latin typeface="Segoe UI"/>
              </a:rPr>
              <a:t>Fragile Execution &amp; Lack of Governance — </a:t>
            </a:r>
            <a:r>
              <a:rPr sz="1550" b="0">
                <a:solidFill>
                  <a:srgbClr val="E2E8F0"/>
                </a:solidFill>
                <a:latin typeface="Segoe UI"/>
              </a:rPr>
              <a:t>Traditional RPA scripts break on minor data/UI changes, lack semantic understanding, and cannot detect multi-rule collisions or enforce financial approval gates (risking unauthorized rerouting on high-value cargo &gt; ₹10L).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1">
                <a:solidFill>
                  <a:srgbClr val="38BDF8"/>
                </a:solidFill>
                <a:latin typeface="Segoe UI"/>
              </a:rPr>
              <a:t>Opaque Black-Boxes &amp; No Continuous Optimization — </a:t>
            </a:r>
            <a:r>
              <a:rPr sz="1550" b="0">
                <a:solidFill>
                  <a:srgbClr val="E2E8F0"/>
                </a:solidFill>
                <a:latin typeface="Segoe UI"/>
              </a:rPr>
              <a:t>Existing automation tools cannot simulate workflows against historical operations data, lack factor-level decision explainability ('Why was it rerouted?'), and never learn from operator approvals to optimize bottlenecks.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508760" y="868680"/>
            <a:ext cx="11430000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4000" b="1">
                <a:solidFill>
                  <a:srgbClr val="FFFFFF"/>
                </a:solidFill>
                <a:latin typeface="Segoe UI"/>
              </a:rPr>
              <a:t>Proposed Solution: TradeSentinel Copilot</a:t>
            </a:r>
            <a:endParaRPr sz="6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08760" y="1920240"/>
            <a:ext cx="1280160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800" b="0" i="1">
                <a:solidFill>
                  <a:srgbClr val="38BDF8"/>
                </a:solidFill>
                <a:latin typeface="Segoe UI"/>
              </a:rPr>
              <a:t>Turning Logistics Intelligence into Autonomous, Executable Workflows with Human-in-the-Loop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6699" y="9554063"/>
            <a:ext cx="3541299" cy="732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89E2D6-E5BA-8E04-2583-AAB6675207BD}"/>
              </a:ext>
            </a:extLst>
          </p:cNvPr>
          <p:cNvSpPr txBox="1"/>
          <p:nvPr/>
        </p:nvSpPr>
        <p:spPr>
          <a:xfrm>
            <a:off x="1508760" y="2651760"/>
            <a:ext cx="150876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AI-Native Business Automation Copilot — </a:t>
            </a:r>
            <a:r>
              <a:rPr sz="1550" b="0">
                <a:solidFill>
                  <a:srgbClr val="E2E8F0"/>
                </a:solidFill>
                <a:latin typeface="Segoe UI"/>
              </a:rPr>
              <a:t>An intelligent enterprise platform that accepts workflow requirements in natural language and converts them into structured, validated, and executable workflow Directed Acyclic Graphs (DAGs).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Logistics Intelligence as AI Action Tools — </a:t>
            </a:r>
            <a:r>
              <a:rPr sz="1550" b="0">
                <a:solidFill>
                  <a:srgbClr val="E2E8F0"/>
                </a:solidFill>
                <a:latin typeface="Segoe UI"/>
              </a:rPr>
              <a:t>Transforms TradeSentinel's deterministic ML models (Risk Scoring, ETA Predictor, Customs Analyzer, Route Optimizer, Disruption Simulator) into callable tools for autonomous agentic reasoning.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Human-in-the-Loop Governance &amp; Tiered Approval — </a:t>
            </a:r>
            <a:r>
              <a:rPr sz="1550" b="0">
                <a:solidFill>
                  <a:srgbClr val="E2E8F0"/>
                </a:solidFill>
                <a:latin typeface="Segoe UI"/>
              </a:rPr>
              <a:t>Enables autonomous straight-through execution for routine, low-risk logistics actions while enforcing mandatory human authorization gates for high-value cargo (&gt; ₹10L) and critical route changes.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Embedded VectorDB &amp; Continuous Self-Optimization — </a:t>
            </a:r>
            <a:r>
              <a:rPr sz="1550" b="0">
                <a:solidFill>
                  <a:srgbClr val="E2E8F0"/>
                </a:solidFill>
                <a:latin typeface="Segoe UI"/>
              </a:rPr>
              <a:t>Integrates an embedded vector database for semantic workflow search, proactive opportunity mining, pre-execution simulation, and continuous policy tuning into one unified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508760" y="868680"/>
            <a:ext cx="11430000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4000" b="1">
                <a:solidFill>
                  <a:srgbClr val="FFFFFF"/>
                </a:solidFill>
                <a:latin typeface="Segoe UI"/>
              </a:rPr>
              <a:t>Key Features of TradeSentinel Copilot</a:t>
            </a:r>
            <a:endParaRPr sz="6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08760" y="1920240"/>
            <a:ext cx="1280160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800" b="0" i="1">
                <a:solidFill>
                  <a:srgbClr val="38BDF8"/>
                </a:solidFill>
                <a:latin typeface="Segoe UI"/>
              </a:rPr>
              <a:t>6 Core Capabilities Bridging Natural Language Intent to Autonomous Execution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119BE2-3187-987D-734B-88CD48761312}"/>
              </a:ext>
            </a:extLst>
          </p:cNvPr>
          <p:cNvSpPr txBox="1"/>
          <p:nvPr/>
        </p:nvSpPr>
        <p:spPr>
          <a:xfrm>
            <a:off x="1508760" y="2606040"/>
            <a:ext cx="15087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18000"/>
              </a:lnSpc>
              <a:spcAft>
                <a:spcPts val="800"/>
              </a:spcAft>
            </a:pPr>
            <a:r>
              <a:rPr sz="1550" b="1">
                <a:solidFill>
                  <a:srgbClr val="38BDF8"/>
                </a:solidFill>
                <a:latin typeface="Segoe UI"/>
              </a:rPr>
              <a:t>1. Natural Language Workflow Generator — </a:t>
            </a:r>
            <a:r>
              <a:rPr sz="1450" b="0">
                <a:solidFill>
                  <a:srgbClr val="E2E8F0"/>
                </a:solidFill>
                <a:latin typeface="Segoe UI"/>
              </a:rPr>
              <a:t>Conversational AI parses triggers, entities, conditions, thresholds, branches, and actions into structured Pydantic workflow schemas with instant visual rendering.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50" b="1">
                <a:solidFill>
                  <a:srgbClr val="38BDF8"/>
                </a:solidFill>
                <a:latin typeface="Segoe UI"/>
              </a:rPr>
              <a:t>2. Deterministic &amp; Vector Conflict Detection Engine — </a:t>
            </a:r>
            <a:r>
              <a:rPr sz="1450" b="0">
                <a:solidFill>
                  <a:srgbClr val="E2E8F0"/>
                </a:solidFill>
                <a:latin typeface="Segoe UI"/>
              </a:rPr>
              <a:t>Identifies approval bypasses, trigger collisions, contradictory actions, race conditions, and semantic duplicate workflows before deployment.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50" b="1">
                <a:solidFill>
                  <a:srgbClr val="38BDF8"/>
                </a:solidFill>
                <a:latin typeface="Segoe UI"/>
              </a:rPr>
              <a:t>3. Historical Workflow Simulator — </a:t>
            </a:r>
            <a:r>
              <a:rPr sz="1450" b="0">
                <a:solidFill>
                  <a:srgbClr val="E2E8F0"/>
                </a:solidFill>
                <a:latin typeface="Segoe UI"/>
              </a:rPr>
              <a:t>Replays workflows across 500+ historical shipments to quantify delay reduction (2.4 days saved) and cost impact (₹4.8L savings) prior to live execution.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50" b="1">
                <a:solidFill>
                  <a:srgbClr val="38BDF8"/>
                </a:solidFill>
                <a:latin typeface="Segoe UI"/>
              </a:rPr>
              <a:t>4. Vector-Powered Automation Opportunity Detector — </a:t>
            </a:r>
            <a:r>
              <a:rPr sz="1450" b="0">
                <a:solidFill>
                  <a:srgbClr val="E2E8F0"/>
                </a:solidFill>
                <a:latin typeface="Segoe UI"/>
              </a:rPr>
              <a:t>Mines operational logs via semantic similarity search to discover repetitive manual procedures (e.g., 184 manual escalations/month) and suggests 1-click workflows.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50" b="1">
                <a:solidFill>
                  <a:srgbClr val="38BDF8"/>
                </a:solidFill>
                <a:latin typeface="Segoe UI"/>
              </a:rPr>
              <a:t>5. Self-Optimizing Analytics &amp; Bottleneck Engine — </a:t>
            </a:r>
            <a:r>
              <a:rPr sz="1450" b="0">
                <a:solidFill>
                  <a:srgbClr val="E2E8F0"/>
                </a:solidFill>
                <a:latin typeface="Segoe UI"/>
              </a:rPr>
              <a:t>Tracks execution latency and operator approval patterns to recommend rule optimizations (e.g., auto-approving reroutes &lt; ₹5L based on 92% approval rate).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50" b="1">
                <a:solidFill>
                  <a:srgbClr val="38BDF8"/>
                </a:solidFill>
                <a:latin typeface="Segoe UI"/>
              </a:rPr>
              <a:t>6. Transparent AI Explainability ('Explain WHY') — </a:t>
            </a:r>
            <a:r>
              <a:rPr sz="1450" b="0">
                <a:solidFill>
                  <a:srgbClr val="E2E8F0"/>
                </a:solidFill>
                <a:latin typeface="Segoe UI"/>
              </a:rPr>
              <a:t>Provides factor-by-factor risk contribution breakdowns (+18 Port, +16 Geopolitical) and policy audit trails for every automated action taken.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508760" y="868680"/>
            <a:ext cx="11430000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4000" b="1">
                <a:solidFill>
                  <a:srgbClr val="FFFFFF"/>
                </a:solidFill>
                <a:latin typeface="Segoe UI"/>
              </a:rPr>
              <a:t>Idea / Approach &amp; Technology Stack</a:t>
            </a:r>
            <a:endParaRPr sz="6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08760" y="1920240"/>
            <a:ext cx="1280160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800" b="0" i="1">
                <a:solidFill>
                  <a:srgbClr val="38BDF8"/>
                </a:solidFill>
                <a:latin typeface="Segoe UI"/>
              </a:rPr>
              <a:t>Enterprise-Grade Multi-Tiered Architecture with Embedded VectorDB Intelligence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FB2911-8582-AF27-7734-8C4C18690C5A}"/>
              </a:ext>
            </a:extLst>
          </p:cNvPr>
          <p:cNvSpPr txBox="1"/>
          <p:nvPr/>
        </p:nvSpPr>
        <p:spPr>
          <a:xfrm>
            <a:off x="1508760" y="2651760"/>
            <a:ext cx="15087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50" b="1">
                <a:solidFill>
                  <a:srgbClr val="93C5FD"/>
                </a:solidFill>
                <a:latin typeface="Segoe UI"/>
              </a:rPr>
              <a:t>AI &amp; Agentic Reasoning Layer — </a:t>
            </a:r>
            <a:r>
              <a:rPr sz="1550" b="0">
                <a:solidFill>
                  <a:srgbClr val="E2E8F0"/>
                </a:solidFill>
                <a:latin typeface="Segoe UI"/>
              </a:rPr>
              <a:t>LLM Workflow Parser (Claude Sonnet / Gemini / Local Ollama) enforcing strict Pydantic DSL schemas; Function calling integration binding TradeSentinel's deterministic ML tool registry.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50" b="1">
                <a:solidFill>
                  <a:srgbClr val="93C5FD"/>
                </a:solidFill>
                <a:latin typeface="Segoe UI"/>
              </a:rPr>
              <a:t>Workflow DSL &amp; Graph Execution Engine — </a:t>
            </a:r>
            <a:r>
              <a:rPr sz="1550" b="0">
                <a:solidFill>
                  <a:srgbClr val="E2E8F0"/>
                </a:solidFill>
                <a:latin typeface="Segoe UI"/>
              </a:rPr>
              <a:t>Directed Acyclic Graph (DAG) state machine supporting Triggers, Multi-variable Conditions, Parallel Branches, Time Delays, Manager Approvals, and Step-by-Step State Rollback Logging.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50" b="1">
                <a:solidFill>
                  <a:srgbClr val="34D399"/>
                </a:solidFill>
                <a:latin typeface="Segoe UI"/>
              </a:rPr>
              <a:t>Embedded Persistent VectorDB Engine — </a:t>
            </a:r>
            <a:r>
              <a:rPr sz="1550" b="0">
                <a:solidFill>
                  <a:srgbClr val="E2E8F0"/>
                </a:solidFill>
                <a:latin typeface="Segoe UI"/>
              </a:rPr>
              <a:t>Dense 128-dim semantic embeddings, cosine similarity vector search, and persistent SQLite storage — enabling instant semantic duplicate workflow detection, log mining, and zero external DB dependencies.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50" b="1">
                <a:solidFill>
                  <a:srgbClr val="93C5FD"/>
                </a:solidFill>
                <a:latin typeface="Segoe UI"/>
              </a:rPr>
              <a:t>Full-Stack Enterprise Implementation — </a:t>
            </a:r>
            <a:r>
              <a:rPr sz="1550" b="0">
                <a:solidFill>
                  <a:srgbClr val="E2E8F0"/>
                </a:solidFill>
                <a:latin typeface="Segoe UI"/>
              </a:rPr>
              <a:t>Backend: Python FastAPI, Embedded VectorDB (Zero-Config, Self-Contained), Pydantic v2, PyJWT RBAC.
Frontend: React 19, Vite, Tailwind CSS, React Flow (interactive node canvas), Recharts, React-Leaflet GIS.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508760" y="868680"/>
            <a:ext cx="11430000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4000" b="1">
                <a:solidFill>
                  <a:srgbClr val="FFFFFF"/>
                </a:solidFill>
                <a:latin typeface="Segoe UI"/>
              </a:rPr>
              <a:t>System Architecture &amp; Workflow</a:t>
            </a:r>
            <a:endParaRPr lang="en-IN" sz="6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pic>
        <p:nvPicPr>
          <p:cNvPr id="7" name="Picture 6" descr="tradesentinel_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1965960"/>
            <a:ext cx="1527048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508760" y="868680"/>
            <a:ext cx="11430000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4000" b="1">
                <a:solidFill>
                  <a:srgbClr val="FFFFFF"/>
                </a:solidFill>
                <a:latin typeface="Segoe UI"/>
              </a:rPr>
              <a:t>Innovation &amp; Key Differentiators</a:t>
            </a:r>
            <a:endParaRPr sz="6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08760" y="1920240"/>
            <a:ext cx="1280160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800" b="0" i="1">
                <a:solidFill>
                  <a:srgbClr val="38BDF8"/>
                </a:solidFill>
                <a:latin typeface="Segoe UI"/>
              </a:rPr>
              <a:t>How TradeSentinel Outperforms Traditional Automation and Generic AI Chatbots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6375DB-497C-293C-7D9D-8AFF101CC07C}"/>
              </a:ext>
            </a:extLst>
          </p:cNvPr>
          <p:cNvSpPr txBox="1"/>
          <p:nvPr/>
        </p:nvSpPr>
        <p:spPr>
          <a:xfrm>
            <a:off x="1508760" y="2651760"/>
            <a:ext cx="15087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1. Conversational NL to Executable Workflow Graph — </a:t>
            </a:r>
            <a:r>
              <a:rPr sz="1500" b="0">
                <a:solidFill>
                  <a:srgbClr val="E2E8F0"/>
                </a:solidFill>
                <a:latin typeface="Segoe UI"/>
              </a:rPr>
              <a:t>Unlike brittle RPA tools that record mouse clicks, TradeSentinel semantically extracts triggers, multi-variable conditions, thresholds, and actions into structured, validated Pydantic DAGs.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2. Logistics ML Intelligence as Agentic Tools — </a:t>
            </a:r>
            <a:r>
              <a:rPr sz="1500" b="0">
                <a:solidFill>
                  <a:srgbClr val="E2E8F0"/>
                </a:solidFill>
                <a:latin typeface="Segoe UI"/>
              </a:rPr>
              <a:t>Instead of generic AI hallucinations, our copilot directly executes domain-specific ML algorithms: risk scoring, ETA prediction, customs bottlenecks, and dynamic route optimization.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3. Embedded VectorDB for Semantic Opportunity Mining — </a:t>
            </a:r>
            <a:r>
              <a:rPr sz="1500" b="0">
                <a:solidFill>
                  <a:srgbClr val="E2E8F0"/>
                </a:solidFill>
                <a:latin typeface="Segoe UI"/>
              </a:rPr>
              <a:t>Uses dense vector embeddings and cosine similarity search over operations logs to proactively discover repetitive manual procedures and detect conflicting workflows.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4. Historical Workflow Simulation &amp; Continuous Self-Optimization — </a:t>
            </a:r>
            <a:r>
              <a:rPr sz="1500" b="0">
                <a:solidFill>
                  <a:srgbClr val="E2E8F0"/>
                </a:solidFill>
                <a:latin typeface="Segoe UI"/>
              </a:rPr>
              <a:t>Validates prospective workflows against 500+ historical shipments with projected ROI, and continuously analyzes operator approvals to auto-tune approval thresholds.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508760" y="868680"/>
            <a:ext cx="11430000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4000" b="1">
                <a:solidFill>
                  <a:srgbClr val="FFFFFF"/>
                </a:solidFill>
                <a:latin typeface="Segoe UI"/>
              </a:rPr>
              <a:t>Measurable Impact &amp; Future Scope</a:t>
            </a:r>
            <a:endParaRPr sz="6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920240"/>
            <a:ext cx="1280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1">
                <a:solidFill>
                  <a:srgbClr val="38BDF8"/>
                </a:solidFill>
                <a:latin typeface="Segoe UI"/>
              </a:rPr>
              <a:t>Proven Operational ROI, Enterprise Governance &amp; Strategic Technology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560320"/>
            <a:ext cx="740664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8BDF8"/>
                </a:solidFill>
                <a:latin typeface="Segoe UI"/>
              </a:rPr>
              <a:t>PROVEN OPERATIONAL IMPACT (PS4 METRICS)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82+ Hours Saved / Month — </a:t>
            </a:r>
            <a:r>
              <a:rPr sz="1400" b="0">
                <a:solidFill>
                  <a:srgbClr val="E2E8F0"/>
                </a:solidFill>
                <a:latin typeface="Segoe UI"/>
              </a:rPr>
              <a:t>Eliminates 180+ repetitive manual delay escalations, ETA calculations, and route reassignments.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60% Faster Disruption Recovery — </a:t>
            </a:r>
            <a:r>
              <a:rPr sz="1400" b="0">
                <a:solidFill>
                  <a:srgbClr val="E2E8F0"/>
                </a:solidFill>
                <a:latin typeface="Segoe UI"/>
              </a:rPr>
              <a:t>Real-time trigger-to-execution drops crisis response latency from hours down to sub-5 seconds.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₹4.8L Delay Cost Avoidance — </a:t>
            </a:r>
            <a:r>
              <a:rPr sz="1400" b="0">
                <a:solidFill>
                  <a:srgbClr val="E2E8F0"/>
                </a:solidFill>
                <a:latin typeface="Segoe UI"/>
              </a:rPr>
              <a:t>Pre-validated via historical simulations across 500+ active cross-border shipments in VectorDB.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100% High-Value Compliance — </a:t>
            </a:r>
            <a:r>
              <a:rPr sz="1400" b="0">
                <a:solidFill>
                  <a:srgbClr val="E2E8F0"/>
                </a:solidFill>
                <a:latin typeface="Segoe UI"/>
              </a:rPr>
              <a:t>Strict multi-tiered approval enforcement prevents unauthorized rerouting on cargo &gt; ₹10 Lakhs.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94.7% Workflow Execution Success — </a:t>
            </a:r>
            <a:r>
              <a:rPr sz="1400" b="0">
                <a:solidFill>
                  <a:srgbClr val="E2E8F0"/>
                </a:solidFill>
                <a:latin typeface="Segoe UI"/>
              </a:rPr>
              <a:t>High reliability with automated rollback handling across multi-carrier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2560320"/>
            <a:ext cx="740664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FBBF24"/>
                </a:solidFill>
                <a:latin typeface="Segoe UI"/>
              </a:rPr>
              <a:t>FUTURE SCOPE &amp; STRATEGIC ROADMAP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93C5FD"/>
                </a:solidFill>
                <a:latin typeface="Segoe UI"/>
              </a:rPr>
              <a:t>IoT Telemetry &amp; Reefer Auto-Intervention — </a:t>
            </a:r>
            <a:r>
              <a:rPr sz="1400" b="0">
                <a:solidFill>
                  <a:srgbClr val="E2E8F0"/>
                </a:solidFill>
                <a:latin typeface="Segoe UI"/>
              </a:rPr>
              <a:t>Real-time temperature and shock sensor triggers for cold-chain pharmaceuticals and high-value perishables.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93C5FD"/>
                </a:solidFill>
                <a:latin typeface="Segoe UI"/>
              </a:rPr>
              <a:t>Autonomous Multi-Carrier Spot Bidding — </a:t>
            </a:r>
            <a:r>
              <a:rPr sz="1400" b="0">
                <a:solidFill>
                  <a:srgbClr val="E2E8F0"/>
                </a:solidFill>
                <a:latin typeface="Segoe UI"/>
              </a:rPr>
              <a:t>Dynamic API negotiation with regional freight forwarders during port congestion or regional strikes.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93C5FD"/>
                </a:solidFill>
                <a:latin typeface="Segoe UI"/>
              </a:rPr>
              <a:t>Automated Cross-Border Customs E-Filing — </a:t>
            </a:r>
            <a:r>
              <a:rPr sz="1400" b="0">
                <a:solidFill>
                  <a:srgbClr val="E2E8F0"/>
                </a:solidFill>
                <a:latin typeface="Segoe UI"/>
              </a:rPr>
              <a:t>AI document synthesis and direct pre-clearance integration with international customs authorities.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93C5FD"/>
                </a:solidFill>
                <a:latin typeface="Segoe UI"/>
              </a:rPr>
              <a:t>Decentralized Multi-Agent Swarms — </a:t>
            </a:r>
            <a:r>
              <a:rPr sz="1400" b="0">
                <a:solidFill>
                  <a:srgbClr val="E2E8F0"/>
                </a:solidFill>
                <a:latin typeface="Segoe UI"/>
              </a:rPr>
              <a:t>Collaborative inter-enterprise supply chain workflow coordination across shippers, carriers, and consignees.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14528" y="3968725"/>
            <a:ext cx="8463472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000" b="1">
                <a:solidFill>
                  <a:srgbClr val="FFFFFF"/>
                </a:solidFill>
                <a:latin typeface="Segoe UI"/>
              </a:rPr>
              <a:t>Thank You!</a:t>
            </a:r>
            <a:endParaRPr spc="-944" dirty="0"/>
          </a:p>
          <a:p>
            <a:pPr algn="ctr">
              <a:spcBef>
                <a:spcPts val="1600"/>
              </a:spcBef>
            </a:pPr>
            <a:r>
              <a:rPr sz="2400" b="1">
                <a:solidFill>
                  <a:srgbClr val="38BDF8"/>
                </a:solidFill>
                <a:latin typeface="Segoe UI"/>
              </a:rPr>
              <a:t>TradeSentinel — Autonomous Logistics Intelligence for Global Trade</a:t>
            </a:r>
          </a:p>
          <a:p>
            <a:pPr algn="ctr">
              <a:spcBef>
                <a:spcPts val="1000"/>
              </a:spcBef>
            </a:pPr>
            <a:r>
              <a:rPr sz="2000" i="1">
                <a:solidFill>
                  <a:srgbClr val="93C5FD"/>
                </a:solidFill>
                <a:latin typeface="Segoe UI"/>
              </a:rPr>
              <a:t>Team MARK42  |  PS4: AI-Powered Business Automation Copilot</a:t>
            </a:r>
          </a:p>
          <a:p>
            <a:pPr algn="ctr">
              <a:spcBef>
                <a:spcPts val="1400"/>
              </a:spcBef>
            </a:pPr>
            <a:r>
              <a:rPr sz="1800" b="1">
                <a:solidFill>
                  <a:srgbClr val="34D399"/>
                </a:solidFill>
                <a:latin typeface="Segoe UI"/>
              </a:rPr>
              <a:t>Ready for Live Demonstration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</TotalTime>
  <Words>965</Words>
  <Application>Microsoft Office PowerPoint</Application>
  <PresentationFormat>Custom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MT</vt:lpstr>
      <vt:lpstr>Calibri</vt:lpstr>
      <vt:lpstr>Segoe WPC</vt:lpstr>
      <vt:lpstr>Tahoma</vt:lpstr>
      <vt:lpstr>Office Theme</vt:lpstr>
      <vt:lpstr>Project Title</vt:lpstr>
      <vt:lpstr>Problem Statement</vt:lpstr>
      <vt:lpstr>PROPOSED SOLUTION:</vt:lpstr>
      <vt:lpstr>Features</vt:lpstr>
      <vt:lpstr>Idea/Approach</vt:lpstr>
      <vt:lpstr>System Architecture / Workflow</vt:lpstr>
      <vt:lpstr>Innovation &amp; Existing Solutions</vt:lpstr>
      <vt:lpstr>Impact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HackFusion Template</dc:title>
  <dc:creator>Hema Manoj</dc:creator>
  <cp:keywords>DAHRP3OOnmU,BAErOPV7AUQ</cp:keywords>
  <cp:lastModifiedBy>Goutham Reddy</cp:lastModifiedBy>
  <cp:revision>3</cp:revision>
  <dcterms:created xsi:type="dcterms:W3CDTF">2026-08-14T08:06:42Z</dcterms:created>
  <dcterms:modified xsi:type="dcterms:W3CDTF">2026-08-14T14:55:22Z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2026-08-03T00:00:00Z</vt:filetime>
  </property>
  <property fmtid="{D5CDD505-2E9C-101B-9397-08002B2CF9AE}" pid="4" name="Creator">
    <vt:lpwstr>Canva</vt:lpwstr>
  </property>
  <property fmtid="{D5CDD505-2E9C-101B-9397-08002B2CF9AE}" pid="5" name="LastSaved">
    <vt:filetime>2026-08-14T00:00:00Z</vt:filetime>
  </property>
  <property fmtid="{D5CDD505-2E9C-101B-9397-08002B2CF9AE}" pid="6" name="Producer">
    <vt:lpwstr>Canva</vt:lpwstr>
  </property>
</Properties>
</file>